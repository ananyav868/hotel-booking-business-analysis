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77" r:id="rId8"/>
    <p:sldId id="274" r:id="rId9"/>
    <p:sldId id="276" r:id="rId10"/>
    <p:sldId id="261" r:id="rId11"/>
    <p:sldId id="275" r:id="rId12"/>
    <p:sldId id="264" r:id="rId13"/>
    <p:sldId id="279" r:id="rId14"/>
    <p:sldId id="278" r:id="rId15"/>
    <p:sldId id="280" r:id="rId16"/>
    <p:sldId id="281" r:id="rId17"/>
    <p:sldId id="265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7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895" y="1890074"/>
            <a:ext cx="8229600" cy="1143000"/>
          </a:xfrm>
        </p:spPr>
        <p:txBody>
          <a:bodyPr/>
          <a:lstStyle/>
          <a:p>
            <a:r>
              <a:rPr lang="en-IN" dirty="0"/>
              <a:t>Hotel Booking Data Analysis</a:t>
            </a:r>
            <a:endParaRPr dirty="0">
              <a:latin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C35E56F-BC0E-0862-62B0-06365E7CB7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0" y="3224762"/>
            <a:ext cx="43649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Presented by: Ananya Verma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Date: 12-05-2026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245599"/>
            <a:ext cx="8229600" cy="1143000"/>
          </a:xfrm>
        </p:spPr>
        <p:txBody>
          <a:bodyPr/>
          <a:lstStyle/>
          <a:p>
            <a:r>
              <a:rPr lang="en-IN" dirty="0"/>
              <a:t>Analysis Objectives</a:t>
            </a:r>
            <a:endParaRPr dirty="0">
              <a:latin typeface="Calibri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6B3CB8-282B-E1B2-5399-C9297791A1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5966" y="2709019"/>
            <a:ext cx="75520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hotel booking trends and customer behavior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Study cancellations and booking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profitability drivers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 seasonal booking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actionable business recommendations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Dataset Information</a:t>
            </a:r>
          </a:p>
          <a:p>
            <a:r>
              <a:rPr lang="en-US" dirty="0"/>
              <a:t>Total Records: 30,000 </a:t>
            </a:r>
          </a:p>
          <a:p>
            <a:r>
              <a:rPr lang="en-US" dirty="0"/>
              <a:t>Total Columns: 25 </a:t>
            </a:r>
          </a:p>
          <a:p>
            <a:r>
              <a:rPr lang="en-US" dirty="0"/>
              <a:t>Dataset Type: Hotel Booking Transactions </a:t>
            </a:r>
          </a:p>
          <a:p>
            <a:pPr marL="0" indent="0">
              <a:buNone/>
            </a:pPr>
            <a:r>
              <a:rPr lang="en-US" b="1" dirty="0"/>
              <a:t>Important Columns</a:t>
            </a:r>
          </a:p>
          <a:p>
            <a:r>
              <a:rPr lang="en-US" dirty="0" err="1"/>
              <a:t>booking_channel</a:t>
            </a:r>
            <a:r>
              <a:rPr lang="en-US" dirty="0"/>
              <a:t> </a:t>
            </a:r>
          </a:p>
          <a:p>
            <a:r>
              <a:rPr lang="en-US" dirty="0" err="1"/>
              <a:t>room_type</a:t>
            </a:r>
            <a:r>
              <a:rPr lang="en-US" dirty="0"/>
              <a:t> </a:t>
            </a:r>
          </a:p>
          <a:p>
            <a:r>
              <a:rPr lang="en-US" dirty="0" err="1"/>
              <a:t>hotel_star_rating</a:t>
            </a:r>
            <a:r>
              <a:rPr lang="en-US" dirty="0"/>
              <a:t> </a:t>
            </a:r>
          </a:p>
          <a:p>
            <a:r>
              <a:rPr lang="en-US" dirty="0"/>
              <a:t>city </a:t>
            </a:r>
          </a:p>
          <a:p>
            <a:r>
              <a:rPr lang="en-US" dirty="0" err="1"/>
              <a:t>booking_status</a:t>
            </a:r>
            <a:r>
              <a:rPr lang="en-US" dirty="0"/>
              <a:t> </a:t>
            </a:r>
          </a:p>
          <a:p>
            <a:r>
              <a:rPr lang="en-US" dirty="0" err="1"/>
              <a:t>selling_price</a:t>
            </a:r>
            <a:r>
              <a:rPr lang="en-US" dirty="0"/>
              <a:t> </a:t>
            </a:r>
          </a:p>
          <a:p>
            <a:r>
              <a:rPr lang="en-US" dirty="0" err="1"/>
              <a:t>cost_price</a:t>
            </a:r>
            <a:r>
              <a:rPr lang="en-US" dirty="0"/>
              <a:t> </a:t>
            </a:r>
          </a:p>
          <a:p>
            <a:r>
              <a:rPr lang="en-US" dirty="0" err="1"/>
              <a:t>stay_duration</a:t>
            </a:r>
            <a:r>
              <a:rPr lang="en-US" dirty="0"/>
              <a:t> </a:t>
            </a:r>
          </a:p>
          <a:p>
            <a:r>
              <a:rPr lang="en-US" dirty="0" err="1"/>
              <a:t>booking_date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457199"/>
          </a:xfrm>
        </p:spPr>
        <p:txBody>
          <a:bodyPr>
            <a:normAutofit fontScale="90000"/>
          </a:bodyPr>
          <a:lstStyle/>
          <a:p>
            <a:r>
              <a:rPr sz="3600" dirty="0">
                <a:latin typeface="Calibri"/>
              </a:rP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3238"/>
            <a:ext cx="8229600" cy="5622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Calculated Columns:</a:t>
            </a:r>
            <a:br>
              <a:rPr lang="en-IN" sz="1800" b="1" dirty="0"/>
            </a:br>
            <a:r>
              <a:rPr lang="en-IN" sz="1800" dirty="0"/>
              <a:t>1. </a:t>
            </a:r>
            <a:r>
              <a:rPr lang="en-US" sz="1800" dirty="0"/>
              <a:t>Profit =</a:t>
            </a:r>
            <a:r>
              <a:rPr lang="en-US" sz="1800" dirty="0" err="1"/>
              <a:t>Hotel_bookings_final</a:t>
            </a:r>
            <a:r>
              <a:rPr lang="en-US" sz="1800" dirty="0"/>
              <a:t>[</a:t>
            </a:r>
            <a:r>
              <a:rPr lang="en-US" sz="1800" dirty="0" err="1"/>
              <a:t>selling_price</a:t>
            </a:r>
            <a:r>
              <a:rPr lang="en-US" sz="1800" dirty="0"/>
              <a:t>] -</a:t>
            </a:r>
            <a:r>
              <a:rPr lang="en-US" sz="1800" dirty="0" err="1"/>
              <a:t>Hotel_bookings_final</a:t>
            </a:r>
            <a:r>
              <a:rPr lang="en-US" sz="1800" dirty="0"/>
              <a:t>[</a:t>
            </a:r>
            <a:r>
              <a:rPr lang="en-US" sz="1800" dirty="0" err="1"/>
              <a:t>costprice</a:t>
            </a:r>
            <a:r>
              <a:rPr lang="en-US" sz="1800" dirty="0"/>
              <a:t>]</a:t>
            </a:r>
            <a:br>
              <a:rPr lang="en-IN" sz="1800" dirty="0"/>
            </a:br>
            <a:r>
              <a:rPr lang="en-IN" sz="1800" dirty="0"/>
              <a:t>2.</a:t>
            </a:r>
            <a:r>
              <a:rPr lang="en-US" sz="1800" dirty="0" err="1"/>
              <a:t>Stay_Duration</a:t>
            </a:r>
            <a:r>
              <a:rPr lang="en-US" sz="1800" dirty="0"/>
              <a:t>=DATEDIFF(</a:t>
            </a:r>
            <a:r>
              <a:rPr lang="en-US" sz="1800" dirty="0" err="1"/>
              <a:t>Hotel_bookings_final</a:t>
            </a:r>
            <a:r>
              <a:rPr lang="en-US" sz="1800" dirty="0"/>
              <a:t>[</a:t>
            </a:r>
            <a:r>
              <a:rPr lang="en-US" sz="1800" dirty="0" err="1"/>
              <a:t>check_in_date</a:t>
            </a:r>
            <a:r>
              <a:rPr lang="en-US" sz="1800" dirty="0"/>
              <a:t>],</a:t>
            </a:r>
            <a:r>
              <a:rPr lang="en-US" sz="1800" dirty="0" err="1"/>
              <a:t>Hotel_bookings_final</a:t>
            </a:r>
            <a:r>
              <a:rPr lang="en-US" sz="1800" dirty="0"/>
              <a:t>[</a:t>
            </a:r>
            <a:r>
              <a:rPr lang="en-US" sz="1800" dirty="0" err="1"/>
              <a:t>check_out_date</a:t>
            </a:r>
            <a:r>
              <a:rPr lang="en-US" sz="1800" dirty="0"/>
              <a:t>], DAY)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3. Lead Time=</a:t>
            </a:r>
            <a:r>
              <a:rPr lang="en-US" sz="1800" dirty="0"/>
              <a:t>DATEDIFF(</a:t>
            </a:r>
            <a:r>
              <a:rPr lang="en-US" sz="1800" dirty="0" err="1"/>
              <a:t>check_in_date</a:t>
            </a:r>
            <a:r>
              <a:rPr lang="en-US" sz="1800" dirty="0"/>
              <a:t>, </a:t>
            </a:r>
            <a:r>
              <a:rPr lang="en-US" sz="1800" dirty="0" err="1"/>
              <a:t>booking_date</a:t>
            </a:r>
            <a:r>
              <a:rPr lang="en-US" sz="1800" dirty="0"/>
              <a:t>)</a:t>
            </a:r>
            <a:br>
              <a:rPr lang="en-IN" sz="1800" dirty="0"/>
            </a:br>
            <a:r>
              <a:rPr lang="en-IN" sz="1800" b="1" dirty="0"/>
              <a:t>Measures</a:t>
            </a:r>
          </a:p>
          <a:p>
            <a:pPr marL="0" indent="0">
              <a:buNone/>
            </a:pPr>
            <a:r>
              <a:rPr lang="en-IN" sz="1800" dirty="0"/>
              <a:t>1.Booking Count=</a:t>
            </a:r>
            <a:r>
              <a:rPr lang="en-US" sz="1800" dirty="0"/>
              <a:t>COUNTROWS(</a:t>
            </a:r>
            <a:r>
              <a:rPr lang="en-US" sz="1800" dirty="0" err="1"/>
              <a:t>Hotel_bookings_final</a:t>
            </a:r>
            <a:r>
              <a:rPr lang="en-US" sz="1800" dirty="0"/>
              <a:t>)</a:t>
            </a:r>
            <a:br>
              <a:rPr lang="en-IN" sz="1800" dirty="0"/>
            </a:br>
            <a:r>
              <a:rPr lang="en-IN" sz="1800" dirty="0"/>
              <a:t>2. C</a:t>
            </a:r>
            <a:r>
              <a:rPr lang="en-US" sz="1800" dirty="0" err="1"/>
              <a:t>ancellation_Rate</a:t>
            </a:r>
            <a:r>
              <a:rPr lang="en-US" sz="1800" dirty="0"/>
              <a:t> =DIVIDE(CALCULATE(COUNTROWS(</a:t>
            </a:r>
            <a:r>
              <a:rPr lang="en-US" sz="1800" dirty="0" err="1"/>
              <a:t>Hotel_bookings_final</a:t>
            </a:r>
            <a:r>
              <a:rPr lang="en-US" sz="1800" dirty="0"/>
              <a:t>),</a:t>
            </a:r>
            <a:br>
              <a:rPr lang="en-US" sz="1800" dirty="0"/>
            </a:br>
            <a:r>
              <a:rPr lang="en-US" sz="1800" dirty="0" err="1"/>
              <a:t>Hotel_bookings_final</a:t>
            </a:r>
            <a:r>
              <a:rPr lang="en-US" sz="1800" dirty="0"/>
              <a:t>[</a:t>
            </a:r>
            <a:r>
              <a:rPr lang="en-US" sz="1800" dirty="0" err="1"/>
              <a:t>booking_status</a:t>
            </a:r>
            <a:r>
              <a:rPr lang="en-US" sz="1800" dirty="0"/>
              <a:t>] = "Cancelled"),COUNTROWS(</a:t>
            </a:r>
            <a:r>
              <a:rPr lang="en-US" sz="1800" dirty="0" err="1"/>
              <a:t>Hotel_bookings_final</a:t>
            </a:r>
            <a:r>
              <a:rPr lang="en-US" sz="1800" dirty="0"/>
              <a:t>))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3. Revenue=</a:t>
            </a:r>
            <a:r>
              <a:rPr lang="en-US" sz="1800" dirty="0"/>
              <a:t>SUM(</a:t>
            </a:r>
            <a:r>
              <a:rPr lang="en-US" sz="1800" dirty="0" err="1"/>
              <a:t>Hotel_bookings_final</a:t>
            </a:r>
            <a:r>
              <a:rPr lang="en-US" sz="1800" dirty="0"/>
              <a:t>[</a:t>
            </a:r>
            <a:r>
              <a:rPr lang="en-US" sz="1800" dirty="0" err="1"/>
              <a:t>booking_value</a:t>
            </a:r>
            <a:r>
              <a:rPr lang="en-US" sz="1800" dirty="0"/>
              <a:t>])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4. </a:t>
            </a:r>
            <a:r>
              <a:rPr lang="en-US" sz="1800" dirty="0" err="1"/>
              <a:t>Total_Profit</a:t>
            </a:r>
            <a:r>
              <a:rPr lang="en-US" sz="1800" dirty="0"/>
              <a:t> =SUMX(</a:t>
            </a:r>
            <a:r>
              <a:rPr lang="en-US" sz="1800" dirty="0" err="1"/>
              <a:t>Hotel_bookings_final,Hotel_bookings_final</a:t>
            </a:r>
            <a:r>
              <a:rPr lang="en-US" sz="1800" dirty="0"/>
              <a:t>[</a:t>
            </a:r>
            <a:r>
              <a:rPr lang="en-US" sz="1800" dirty="0" err="1"/>
              <a:t>selling_price</a:t>
            </a:r>
            <a:r>
              <a:rPr lang="en-US" sz="1800" dirty="0"/>
              <a:t>] -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Hotel_bookings_final</a:t>
            </a:r>
            <a:r>
              <a:rPr lang="en-US" sz="1800" dirty="0"/>
              <a:t>[</a:t>
            </a:r>
            <a:r>
              <a:rPr lang="en-US" sz="1800" dirty="0" err="1"/>
              <a:t>costprice</a:t>
            </a:r>
            <a:r>
              <a:rPr lang="en-US" sz="1800" dirty="0"/>
              <a:t>])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5. Cancellation Count=</a:t>
            </a:r>
            <a:r>
              <a:rPr lang="en-US" sz="1800" dirty="0"/>
              <a:t>CALCULATE(</a:t>
            </a:r>
            <a:br>
              <a:rPr lang="en-US" sz="1800" dirty="0"/>
            </a:br>
            <a:r>
              <a:rPr lang="en-US" sz="1800" dirty="0"/>
              <a:t>COUNTROWS(</a:t>
            </a:r>
            <a:r>
              <a:rPr lang="en-US" sz="1800" dirty="0" err="1"/>
              <a:t>Hotel_bookings_final</a:t>
            </a:r>
            <a:r>
              <a:rPr lang="en-US" sz="1800" dirty="0"/>
              <a:t>),</a:t>
            </a:r>
            <a:r>
              <a:rPr lang="en-US" sz="1800" dirty="0" err="1"/>
              <a:t>Hotel_bookings_final</a:t>
            </a:r>
            <a:r>
              <a:rPr lang="en-US" sz="1800" dirty="0"/>
              <a:t>[</a:t>
            </a:r>
            <a:r>
              <a:rPr lang="en-US" sz="1800" dirty="0" err="1"/>
              <a:t>booking_status</a:t>
            </a:r>
            <a:r>
              <a:rPr lang="en-US" sz="1800" dirty="0"/>
              <a:t>] = "Cancelled")</a:t>
            </a: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3398"/>
            <a:ext cx="8229600" cy="672138"/>
          </a:xfrm>
        </p:spPr>
        <p:txBody>
          <a:bodyPr>
            <a:normAutofit/>
          </a:bodyPr>
          <a:lstStyle/>
          <a:p>
            <a:r>
              <a:rPr lang="en-IN" sz="2800" dirty="0"/>
              <a:t>Booking Trends Across Channels</a:t>
            </a:r>
            <a:endParaRPr sz="2800" dirty="0">
              <a:latin typeface="Calibri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309441-3F6D-1337-39BB-160F2F7D4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2616" y="1535527"/>
            <a:ext cx="3253740" cy="2785351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EBBDF0-9678-686E-8962-1232E8807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17" y="1535527"/>
            <a:ext cx="3754812" cy="22595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AE0551-9724-F477-D957-B944328E2754}"/>
              </a:ext>
            </a:extLst>
          </p:cNvPr>
          <p:cNvSpPr txBox="1"/>
          <p:nvPr/>
        </p:nvSpPr>
        <p:spPr>
          <a:xfrm>
            <a:off x="544213" y="3975897"/>
            <a:ext cx="88168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Average Booking Value Analysis</a:t>
            </a:r>
          </a:p>
          <a:p>
            <a:r>
              <a:rPr lang="en-US" dirty="0"/>
              <a:t>Web bookings showed the highest average booking value (~28,191). </a:t>
            </a:r>
          </a:p>
          <a:p>
            <a:r>
              <a:rPr lang="en-US" dirty="0"/>
              <a:t>Travel Agent bookings generated moderate average booking value (~24,454). </a:t>
            </a:r>
          </a:p>
          <a:p>
            <a:r>
              <a:rPr lang="en-US" dirty="0"/>
              <a:t>Mobile App bookings recorded the lowest average booking value (~21,351). </a:t>
            </a:r>
          </a:p>
          <a:p>
            <a:br>
              <a:rPr lang="en-US" b="1" dirty="0"/>
            </a:br>
            <a:r>
              <a:rPr lang="en-US" b="1" dirty="0"/>
              <a:t>Pattern Identified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strongly prefer digital self-booking platforms over offline booking methods.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platform dominates overall booking acquisition.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application also plays a significant role in customer bookings.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B33751-5BCC-6BC0-0528-28A369980C97}"/>
              </a:ext>
            </a:extLst>
          </p:cNvPr>
          <p:cNvSpPr txBox="1"/>
          <p:nvPr/>
        </p:nvSpPr>
        <p:spPr>
          <a:xfrm>
            <a:off x="669303" y="75414"/>
            <a:ext cx="7537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Observed patterns and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B186-A8A4-74C0-350F-5ED89141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5529"/>
            <a:ext cx="8229600" cy="800017"/>
          </a:xfrm>
        </p:spPr>
        <p:txBody>
          <a:bodyPr>
            <a:normAutofit/>
          </a:bodyPr>
          <a:lstStyle/>
          <a:p>
            <a:r>
              <a:rPr lang="en-US" sz="2800" dirty="0"/>
              <a:t>Booking Patterns by Room Type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1E4CE0-1103-741A-A703-79464C4A4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8499" y="1545996"/>
            <a:ext cx="4114800" cy="34402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2E0BD2-7D52-5BCA-895F-7460D1D5D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5996"/>
            <a:ext cx="4958499" cy="324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7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5BB5F-99FD-8CE8-B296-A8FA84C87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2740"/>
            <a:ext cx="8229600" cy="61109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Key Observations</a:t>
            </a:r>
          </a:p>
          <a:p>
            <a:r>
              <a:rPr lang="en-US" sz="1600" dirty="0"/>
              <a:t>Standard rooms recorded the highest booking volume with approximately 16,552 bookings. </a:t>
            </a:r>
          </a:p>
          <a:p>
            <a:r>
              <a:rPr lang="en-US" sz="1600" dirty="0"/>
              <a:t>Deluxe rooms contributed around 10,478 bookings, indicating moderate customer demand. </a:t>
            </a:r>
          </a:p>
          <a:p>
            <a:r>
              <a:rPr lang="en-US" sz="1600" dirty="0"/>
              <a:t>Suite rooms had the lowest booking volume with approximately 2,970 bookings. </a:t>
            </a:r>
          </a:p>
          <a:p>
            <a:pPr marL="0" indent="0">
              <a:buNone/>
            </a:pPr>
            <a:r>
              <a:rPr lang="en-US" sz="1600" b="1" dirty="0"/>
              <a:t>Average Booking Value Analysis</a:t>
            </a:r>
          </a:p>
          <a:p>
            <a:r>
              <a:rPr lang="en-US" sz="1600" dirty="0"/>
              <a:t>Standard rooms generated the highest average booking value (~25,147). </a:t>
            </a:r>
          </a:p>
          <a:p>
            <a:r>
              <a:rPr lang="en-US" sz="1600" dirty="0"/>
              <a:t>Deluxe rooms showed slightly lower average booking value (~25,005). </a:t>
            </a:r>
          </a:p>
          <a:p>
            <a:r>
              <a:rPr lang="en-US" sz="1600" dirty="0"/>
              <a:t>Suite rooms recorded the lowest average booking value (~24,978). </a:t>
            </a:r>
          </a:p>
          <a:p>
            <a:pPr marL="0" indent="0">
              <a:buNone/>
            </a:pPr>
            <a:r>
              <a:rPr lang="en-US" sz="1600" b="1" dirty="0"/>
              <a:t>Pattern Identified</a:t>
            </a:r>
          </a:p>
          <a:p>
            <a:r>
              <a:rPr lang="en-US" sz="1600" dirty="0"/>
              <a:t>Customers prefer affordable and mid-range accommodation options over premium room categories. </a:t>
            </a:r>
          </a:p>
          <a:p>
            <a:r>
              <a:rPr lang="en-US" sz="1600" dirty="0"/>
              <a:t>Booking demand is concentrated heavily in Standard room segments. </a:t>
            </a:r>
          </a:p>
          <a:p>
            <a:r>
              <a:rPr lang="en-US" sz="1600" dirty="0"/>
              <a:t>Premium room categories attract comparatively smaller customer segments. </a:t>
            </a:r>
          </a:p>
          <a:p>
            <a:pPr marL="0" indent="0">
              <a:buNone/>
            </a:pPr>
            <a:r>
              <a:rPr lang="en-US" sz="1600" b="1" dirty="0"/>
              <a:t>Business Interpretation</a:t>
            </a:r>
          </a:p>
          <a:p>
            <a:r>
              <a:rPr lang="en-US" sz="1600" dirty="0"/>
              <a:t>Standard rooms are the primary demand driver and contribute significantly to total booking volume. </a:t>
            </a:r>
          </a:p>
          <a:p>
            <a:r>
              <a:rPr lang="en-US" sz="1600" dirty="0"/>
              <a:t>Lower Suite bookings may indicate price sensitivity among travelers. </a:t>
            </a:r>
          </a:p>
          <a:p>
            <a:r>
              <a:rPr lang="en-US" sz="1600" dirty="0"/>
              <a:t>Mid-range room categories appear to balance both affordability and customer demand effectively. </a:t>
            </a:r>
          </a:p>
          <a:p>
            <a:pPr marL="0" indent="0">
              <a:buNone/>
            </a:pPr>
            <a:r>
              <a:rPr lang="en-US" sz="1600" b="1" dirty="0"/>
              <a:t>Recommendations</a:t>
            </a:r>
          </a:p>
          <a:p>
            <a:r>
              <a:rPr lang="en-US" sz="1600" dirty="0"/>
              <a:t>Focus promotions and pricing optimization on Standard and Deluxe room categories. </a:t>
            </a:r>
          </a:p>
          <a:p>
            <a:r>
              <a:rPr lang="en-US" sz="1600" dirty="0"/>
              <a:t>Introduce bundled offers or premium experience upgrades to improve Suite bookings. </a:t>
            </a:r>
          </a:p>
          <a:p>
            <a:r>
              <a:rPr lang="en-US" sz="1600" dirty="0"/>
              <a:t>Use upselling strategies to move customers from Standard to Deluxe categories.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91541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A01B-82C7-7D0F-738B-740E4AFE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60918"/>
            <a:ext cx="8229600" cy="743458"/>
          </a:xfrm>
        </p:spPr>
        <p:txBody>
          <a:bodyPr>
            <a:normAutofit/>
          </a:bodyPr>
          <a:lstStyle/>
          <a:p>
            <a:r>
              <a:rPr lang="en-US" sz="2800" dirty="0"/>
              <a:t>Booking Patterns by Star Rating</a:t>
            </a:r>
            <a:endParaRPr lang="en-IN" sz="280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B78503C-B2AB-FA23-00A5-B2395AFCF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2433" y="3881740"/>
            <a:ext cx="4590854" cy="2880732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6856F2-2A80-301D-7F7F-EE1915A93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441" y="582540"/>
            <a:ext cx="6231117" cy="3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03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8FB4F-D803-83A1-7581-066994A82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58220"/>
            <a:ext cx="8229600" cy="57679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/>
              <a:t>Key Observations</a:t>
            </a:r>
          </a:p>
          <a:p>
            <a:r>
              <a:rPr lang="en-US" sz="1600" dirty="0"/>
              <a:t>4-star hotels recorded the highest booking volume with approximately 12,034 bookings. </a:t>
            </a:r>
          </a:p>
          <a:p>
            <a:r>
              <a:rPr lang="en-US" sz="1600" dirty="0"/>
              <a:t>3-star hotels contributed around 10,460 bookings, showing strong mid-range customer demand. </a:t>
            </a:r>
          </a:p>
          <a:p>
            <a:r>
              <a:rPr lang="en-US" sz="1600" dirty="0"/>
              <a:t>5-star hotels generated moderate booking volume with approximately 4,511 bookings. </a:t>
            </a:r>
          </a:p>
          <a:p>
            <a:r>
              <a:rPr lang="en-US" sz="1600" dirty="0"/>
              <a:t>2-star hotels recorded the lowest booking count with approximately 2,995 bookings. </a:t>
            </a:r>
          </a:p>
          <a:p>
            <a:pPr marL="0" indent="0">
              <a:buNone/>
            </a:pPr>
            <a:r>
              <a:rPr lang="en-US" sz="1600" b="1" dirty="0"/>
              <a:t>Average Booking Value Analysis</a:t>
            </a:r>
          </a:p>
          <a:p>
            <a:r>
              <a:rPr lang="en-US" sz="1600" dirty="0"/>
              <a:t>5-star hotels achieved the highest average booking value (~25,117). </a:t>
            </a:r>
          </a:p>
          <a:p>
            <a:r>
              <a:rPr lang="en-US" sz="1600" dirty="0"/>
              <a:t>4-star hotels generated strong average booking value (~25,011). </a:t>
            </a:r>
          </a:p>
          <a:p>
            <a:r>
              <a:rPr lang="en-US" sz="1600" dirty="0"/>
              <a:t>3-star and 2-star hotels showed comparatively lower booking values. </a:t>
            </a:r>
          </a:p>
          <a:p>
            <a:pPr marL="0" indent="0">
              <a:buNone/>
            </a:pPr>
            <a:r>
              <a:rPr lang="en-US" sz="1600" b="1" dirty="0"/>
              <a:t>Pattern Identified</a:t>
            </a:r>
          </a:p>
          <a:p>
            <a:r>
              <a:rPr lang="en-US" sz="1600" dirty="0"/>
              <a:t>Customers primarily prefer mid-range hotel categories such as 3-star and 4-star properties. </a:t>
            </a:r>
          </a:p>
          <a:p>
            <a:r>
              <a:rPr lang="en-US" sz="1600" dirty="0"/>
              <a:t>Premium luxury hotels attract fewer but higher-value bookings. </a:t>
            </a:r>
          </a:p>
          <a:p>
            <a:r>
              <a:rPr lang="en-US" sz="1600" dirty="0"/>
              <a:t>Budget hotel categories contribute relatively lower booking demand. </a:t>
            </a:r>
          </a:p>
          <a:p>
            <a:pPr marL="0" indent="0">
              <a:buNone/>
            </a:pPr>
            <a:r>
              <a:rPr lang="en-US" sz="1600" b="1" dirty="0"/>
              <a:t>Business Interpretation</a:t>
            </a:r>
          </a:p>
          <a:p>
            <a:r>
              <a:rPr lang="en-US" sz="1600" dirty="0"/>
              <a:t>Mid-range hotels represent the strongest market segment in terms of customer demand. </a:t>
            </a:r>
          </a:p>
          <a:p>
            <a:r>
              <a:rPr lang="en-US" sz="1600" dirty="0"/>
              <a:t>4-star hotels balance affordability and premium experience effectively. </a:t>
            </a:r>
          </a:p>
          <a:p>
            <a:r>
              <a:rPr lang="en-US" sz="1600" dirty="0"/>
              <a:t>5-star hotels contribute higher revenue per booking despite lower booking volume. </a:t>
            </a:r>
          </a:p>
          <a:p>
            <a:pPr marL="0" indent="0">
              <a:buNone/>
            </a:pPr>
            <a:r>
              <a:rPr lang="en-US" sz="1600" b="1" dirty="0"/>
              <a:t>Recommendations</a:t>
            </a:r>
          </a:p>
          <a:p>
            <a:r>
              <a:rPr lang="en-US" sz="1600" dirty="0"/>
              <a:t>Focus promotions and inventory optimization on 3-star and 4-star hotels. </a:t>
            </a:r>
          </a:p>
          <a:p>
            <a:r>
              <a:rPr lang="en-US" sz="1600" dirty="0"/>
              <a:t>Use premium upselling strategies for luxury hotel categories. </a:t>
            </a:r>
          </a:p>
          <a:p>
            <a:r>
              <a:rPr lang="en-US" sz="1600" dirty="0"/>
              <a:t>Create targeted offers for budget travelers to improve low-star hotel occupancy. </a:t>
            </a:r>
          </a:p>
          <a:p>
            <a:r>
              <a:rPr lang="en-US" sz="1600" dirty="0"/>
              <a:t>Strengthen pricing optimization for high-demand mid-range hotel segments.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69136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309"/>
            <a:ext cx="8229600" cy="845811"/>
          </a:xfrm>
        </p:spPr>
        <p:txBody>
          <a:bodyPr>
            <a:normAutofit/>
          </a:bodyPr>
          <a:lstStyle/>
          <a:p>
            <a:r>
              <a:rPr sz="3600" dirty="0">
                <a:latin typeface="Calibri"/>
              </a:rPr>
              <a:t>Profitability</a:t>
            </a:r>
            <a:r>
              <a:rPr dirty="0">
                <a:latin typeface="Calibri"/>
              </a:rPr>
              <a:t> </a:t>
            </a:r>
            <a:r>
              <a:rPr sz="3600" dirty="0">
                <a:latin typeface="Calibri"/>
              </a:rPr>
              <a:t>by City</a:t>
            </a:r>
            <a:endParaRPr dirty="0"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D89ADE-3A45-ED2B-A1BC-63036D020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959" y="1206631"/>
            <a:ext cx="5656082" cy="47482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D8B5015-F3C3-B24E-B174-1966F62201F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255823"/>
            <a:ext cx="8229600" cy="6346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b="1" dirty="0"/>
              <a:t>Key Observations</a:t>
            </a:r>
          </a:p>
          <a:p>
            <a:r>
              <a:rPr lang="en-US" sz="1600" dirty="0"/>
              <a:t>Chicago generated the highest profitability with approximately 21.5M profit. </a:t>
            </a:r>
          </a:p>
          <a:p>
            <a:r>
              <a:rPr lang="en-US" sz="1600" dirty="0"/>
              <a:t>Los Angeles and San Francisco also contributed strong profitability exceeding 21M. </a:t>
            </a:r>
          </a:p>
          <a:p>
            <a:r>
              <a:rPr lang="en-US" sz="1600" dirty="0"/>
              <a:t>Dallas recorded the lowest profitability among the displayed cities with approximately 20.2M profit. </a:t>
            </a:r>
          </a:p>
          <a:p>
            <a:r>
              <a:rPr lang="en-US" sz="1600" dirty="0"/>
              <a:t>Profit distribution across major cities remains relatively stable with only moderate variation. </a:t>
            </a:r>
          </a:p>
          <a:p>
            <a:pPr marL="0" indent="0">
              <a:buNone/>
            </a:pPr>
            <a:r>
              <a:rPr lang="en-US" sz="1600" b="1" dirty="0"/>
              <a:t>Pattern Identified</a:t>
            </a:r>
          </a:p>
          <a:p>
            <a:r>
              <a:rPr lang="en-US" sz="1600" dirty="0"/>
              <a:t>Large metropolitan cities consistently contribute higher profitability. </a:t>
            </a:r>
          </a:p>
          <a:p>
            <a:r>
              <a:rPr lang="en-US" sz="1600" dirty="0"/>
              <a:t>High-demand urban destinations appear to drive stronger hotel revenue performance. </a:t>
            </a:r>
          </a:p>
          <a:p>
            <a:r>
              <a:rPr lang="en-US" sz="1600" dirty="0"/>
              <a:t>Profitability differences between cities are comparatively narrow, indicating balanced market performance. </a:t>
            </a:r>
          </a:p>
          <a:p>
            <a:pPr marL="0" indent="0">
              <a:buNone/>
            </a:pPr>
            <a:r>
              <a:rPr lang="en-US" sz="1600" b="1" dirty="0"/>
              <a:t>Business Interpretation</a:t>
            </a:r>
          </a:p>
          <a:p>
            <a:r>
              <a:rPr lang="en-US" sz="1600" dirty="0"/>
              <a:t>Major business and tourism hubs contribute significantly to overall platform profitability. </a:t>
            </a:r>
          </a:p>
          <a:p>
            <a:r>
              <a:rPr lang="en-US" sz="1600" dirty="0"/>
              <a:t>Cities with strong travel demand likely benefit from higher booking volume and premium hotel pricing. </a:t>
            </a:r>
          </a:p>
          <a:p>
            <a:r>
              <a:rPr lang="en-US" sz="1600" dirty="0"/>
              <a:t>Stable profitability across cities suggests diversified revenue generation rather than overdependence on a single market. </a:t>
            </a:r>
          </a:p>
          <a:p>
            <a:pPr marL="0" indent="0">
              <a:buNone/>
            </a:pPr>
            <a:r>
              <a:rPr lang="en-US" sz="1600" b="1" dirty="0"/>
              <a:t>Root Cause Analysis</a:t>
            </a:r>
          </a:p>
          <a:p>
            <a:r>
              <a:rPr lang="en-US" sz="1600" dirty="0"/>
              <a:t>Higher tourism and business travel activity in metropolitan cities </a:t>
            </a:r>
          </a:p>
          <a:p>
            <a:r>
              <a:rPr lang="en-US" sz="1600" dirty="0"/>
              <a:t>Better hotel inventory availability </a:t>
            </a:r>
          </a:p>
          <a:p>
            <a:r>
              <a:rPr lang="en-US" sz="1600" dirty="0"/>
              <a:t>Higher average booking values in premium urban markets </a:t>
            </a:r>
          </a:p>
          <a:p>
            <a:r>
              <a:rPr lang="en-US" sz="1600" dirty="0"/>
              <a:t>Stronger occupancy rates throughout the year </a:t>
            </a:r>
          </a:p>
        </p:txBody>
      </p:sp>
    </p:spTree>
    <p:extLst>
      <p:ext uri="{BB962C8B-B14F-4D97-AF65-F5344CB8AC3E}">
        <p14:creationId xmlns:p14="http://schemas.microsoft.com/office/powerpoint/2010/main" val="2552153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02" y="-296862"/>
            <a:ext cx="8229600" cy="1143000"/>
          </a:xfrm>
        </p:spPr>
        <p:txBody>
          <a:bodyPr>
            <a:normAutofit/>
          </a:bodyPr>
          <a:lstStyle/>
          <a:p>
            <a:r>
              <a:rPr sz="3600" dirty="0">
                <a:latin typeface="Calibri"/>
              </a:rPr>
              <a:t>Cancellation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5C381B-71F5-29BE-61F0-528C18734D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64"/>
          <a:stretch>
            <a:fillRect/>
          </a:stretch>
        </p:blipFill>
        <p:spPr>
          <a:xfrm>
            <a:off x="4887798" y="564675"/>
            <a:ext cx="4256202" cy="47324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617853-1B28-A161-E258-F5929CA5F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25" y="564674"/>
            <a:ext cx="4678973" cy="37905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7E8272-5F57-3208-9518-9325436FF3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007"/>
          <a:stretch>
            <a:fillRect/>
          </a:stretch>
        </p:blipFill>
        <p:spPr>
          <a:xfrm>
            <a:off x="53034" y="1016151"/>
            <a:ext cx="4518966" cy="5841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5674A-E1AC-CC88-5DE5-C8530CEFB3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392"/>
          <a:stretch>
            <a:fillRect/>
          </a:stretch>
        </p:blipFill>
        <p:spPr>
          <a:xfrm>
            <a:off x="4572000" y="1016150"/>
            <a:ext cx="4625034" cy="5841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872F99-D5E8-FCB2-2A76-88293F122918}"/>
              </a:ext>
            </a:extLst>
          </p:cNvPr>
          <p:cNvSpPr txBox="1"/>
          <p:nvPr/>
        </p:nvSpPr>
        <p:spPr>
          <a:xfrm>
            <a:off x="53034" y="179109"/>
            <a:ext cx="9090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Cancellation Rate Based on Lead Rime and Star Rating</a:t>
            </a:r>
          </a:p>
        </p:txBody>
      </p:sp>
    </p:spTree>
    <p:extLst>
      <p:ext uri="{BB962C8B-B14F-4D97-AF65-F5344CB8AC3E}">
        <p14:creationId xmlns:p14="http://schemas.microsoft.com/office/powerpoint/2010/main" val="1036828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AE596-8872-D2BD-79BC-A2D93BD3F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682"/>
            <a:ext cx="8573678" cy="3949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Key Observations:</a:t>
            </a:r>
          </a:p>
          <a:p>
            <a:pPr marL="0" indent="0">
              <a:buNone/>
            </a:pPr>
            <a:r>
              <a:rPr lang="en-US" sz="1600" b="1" dirty="0"/>
              <a:t>Booking Channel Cancellation Trends</a:t>
            </a:r>
          </a:p>
          <a:p>
            <a:r>
              <a:rPr lang="en-US" sz="1600" dirty="0"/>
              <a:t>Web channel recorded the highest number of cancelled bookings with approximately 2,646 cancellations. </a:t>
            </a:r>
          </a:p>
          <a:p>
            <a:r>
              <a:rPr lang="en-US" sz="1600" dirty="0"/>
              <a:t>Mobile App channel showed nearly similar cancellation volume with around 2,589 cancellations. </a:t>
            </a:r>
          </a:p>
          <a:p>
            <a:r>
              <a:rPr lang="en-US" sz="1600" dirty="0"/>
              <a:t>Travel Agent channel generated the lowest cancellation count with approximately 835 cancellations.</a:t>
            </a:r>
          </a:p>
          <a:p>
            <a:pPr marL="0" indent="0">
              <a:buNone/>
            </a:pPr>
            <a:r>
              <a:rPr lang="en-US" sz="1600" b="1" dirty="0"/>
              <a:t>Cancellation Rate Analysis by Channel</a:t>
            </a:r>
          </a:p>
          <a:p>
            <a:pPr marL="0" indent="0">
              <a:buNone/>
            </a:pPr>
            <a:endParaRPr lang="en-US" sz="1600" b="1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1628AD1-B927-38AD-7FC7-5C6F43285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511019"/>
              </p:ext>
            </p:extLst>
          </p:nvPr>
        </p:nvGraphicFramePr>
        <p:xfrm>
          <a:off x="457200" y="2481211"/>
          <a:ext cx="8229600" cy="14630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61120525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2814186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Booking 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Cancellation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560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Travel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27.93%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663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21.56%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4538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17.64%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499053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91C80C55-3F03-553D-DDDF-B4435D226084}"/>
              </a:ext>
            </a:extLst>
          </p:cNvPr>
          <p:cNvSpPr txBox="1"/>
          <p:nvPr/>
        </p:nvSpPr>
        <p:spPr>
          <a:xfrm>
            <a:off x="372359" y="4294775"/>
            <a:ext cx="84888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Agent bookings had the highest cancellation rate despite lower booking volume.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bookings demonstrated comparatively stronger booking stability.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Mobile App users showed moderate cancellation behavior.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383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392F-DB74-FBE2-CFDF-C79E97232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17" y="101339"/>
            <a:ext cx="8658519" cy="2311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Cancellation Trends by Lead Time</a:t>
            </a:r>
          </a:p>
          <a:p>
            <a:pPr marL="0" indent="0">
              <a:buNone/>
            </a:pPr>
            <a:endParaRPr lang="en-IN" sz="1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48D740-D841-1803-78CB-C33C9063D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798012"/>
              </p:ext>
            </p:extLst>
          </p:nvPr>
        </p:nvGraphicFramePr>
        <p:xfrm>
          <a:off x="287517" y="469532"/>
          <a:ext cx="82296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45515998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5247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Lead Time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Cancellation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162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90+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92.26%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622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8–30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92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31–90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33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0–7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4.14%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2357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177B47-6A21-DF8A-A8A9-819AE2302F2F}"/>
              </a:ext>
            </a:extLst>
          </p:cNvPr>
          <p:cNvSpPr txBox="1"/>
          <p:nvPr/>
        </p:nvSpPr>
        <p:spPr>
          <a:xfrm>
            <a:off x="287517" y="2582944"/>
            <a:ext cx="84888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lead-time bookings (90+ days) showed extremely high cancellation probability.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 and medium lead-time bookings remained comparatively stable.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Cancellation risk increases significantly as booking lead time increases. </a:t>
            </a:r>
          </a:p>
          <a:p>
            <a:r>
              <a:rPr lang="en-US" b="1" dirty="0"/>
              <a:t>Cancellation Trends by Star Rating</a:t>
            </a:r>
            <a:br>
              <a:rPr lang="en-US" b="1" dirty="0"/>
            </a:b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352597-0DB7-396F-5F51-B34279CB2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465156"/>
              </p:ext>
            </p:extLst>
          </p:nvPr>
        </p:nvGraphicFramePr>
        <p:xfrm>
          <a:off x="367645" y="4070571"/>
          <a:ext cx="82296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71814452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180449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Star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Cancellation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022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5-Star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21.26%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165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3-Star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20.20%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734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4-Star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19.99%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745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2-Star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19.77%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388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684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1E4B4-016C-75B9-DF74-06675F2C0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88" y="32758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Insights</a:t>
            </a:r>
          </a:p>
          <a:p>
            <a:r>
              <a:rPr lang="en-US" sz="1800" dirty="0"/>
              <a:t>5-star hotels experienced the highest cancellation rate. </a:t>
            </a:r>
          </a:p>
          <a:p>
            <a:r>
              <a:rPr lang="en-US" sz="1800" dirty="0"/>
              <a:t>Premium hotel bookings appear more volatile than budget and mid-range segments. </a:t>
            </a:r>
          </a:p>
          <a:p>
            <a:r>
              <a:rPr lang="en-US" sz="1800" dirty="0"/>
              <a:t>Luxury travelers may demonstrate more flexible or uncertain travel intent. </a:t>
            </a:r>
          </a:p>
          <a:p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Pattern Identified</a:t>
            </a:r>
          </a:p>
          <a:p>
            <a:r>
              <a:rPr lang="en-US" sz="1800" dirty="0"/>
              <a:t>High-value and long-term bookings are more likely to be cancelled. </a:t>
            </a:r>
          </a:p>
          <a:p>
            <a:r>
              <a:rPr lang="en-US" sz="1800" dirty="0"/>
              <a:t>Direct Web bookings show relatively better customer commitment. </a:t>
            </a:r>
          </a:p>
          <a:p>
            <a:r>
              <a:rPr lang="en-US" sz="1800" dirty="0"/>
              <a:t>Travel Agent bookings appear less stable despite lower overall volume. </a:t>
            </a:r>
          </a:p>
          <a:p>
            <a:r>
              <a:rPr lang="en-US" sz="1800" dirty="0"/>
              <a:t>Premium hotel categories experience comparatively higher cancellation risk.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9510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02" y="46038"/>
            <a:ext cx="8229600" cy="457199"/>
          </a:xfrm>
        </p:spPr>
        <p:txBody>
          <a:bodyPr>
            <a:noAutofit/>
          </a:bodyPr>
          <a:lstStyle/>
          <a:p>
            <a:r>
              <a:rPr sz="3600" dirty="0">
                <a:latin typeface="Calibri"/>
              </a:rPr>
              <a:t>Cancellation 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0437"/>
            <a:ext cx="8229600" cy="5622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1. Reasons for Observed Cancellation Patterns</a:t>
            </a:r>
          </a:p>
          <a:p>
            <a:pPr marL="0" indent="0">
              <a:buNone/>
            </a:pPr>
            <a:r>
              <a:rPr lang="en-US" sz="1800" b="1" dirty="0"/>
              <a:t>Observation 1 : Travel Agent bookings have the highest cancellation rate</a:t>
            </a:r>
          </a:p>
          <a:p>
            <a:pPr marL="0" indent="0">
              <a:buNone/>
            </a:pPr>
            <a:r>
              <a:rPr lang="en-US" sz="1800" dirty="0"/>
              <a:t>From SQL analysis:</a:t>
            </a:r>
          </a:p>
          <a:p>
            <a:r>
              <a:rPr lang="en-US" sz="1800" dirty="0"/>
              <a:t>Travel Agent cancellation rate = 27.93% </a:t>
            </a:r>
          </a:p>
          <a:p>
            <a:r>
              <a:rPr lang="en-US" sz="1800" dirty="0"/>
              <a:t>Mobile App = 21.56% </a:t>
            </a:r>
          </a:p>
          <a:p>
            <a:r>
              <a:rPr lang="en-US" sz="1800" dirty="0"/>
              <a:t>Web = 17.64%</a:t>
            </a:r>
          </a:p>
          <a:p>
            <a:pPr marL="0" indent="0">
              <a:buNone/>
            </a:pPr>
            <a:r>
              <a:rPr lang="en-US" sz="1800" b="1" dirty="0"/>
              <a:t>Root Cause</a:t>
            </a:r>
          </a:p>
          <a:p>
            <a:pPr marL="0" indent="0">
              <a:buNone/>
            </a:pPr>
            <a:r>
              <a:rPr lang="en-US" sz="1800" dirty="0"/>
              <a:t>Travel-agent bookings are more cancellation-prone because:</a:t>
            </a:r>
          </a:p>
          <a:p>
            <a:r>
              <a:rPr lang="en-US" sz="1800" dirty="0"/>
              <a:t>customers compare multiple hotel options before finalizing </a:t>
            </a:r>
          </a:p>
          <a:p>
            <a:r>
              <a:rPr lang="en-US" sz="1800" dirty="0"/>
              <a:t>third-party bookings involve lower direct customer commitment </a:t>
            </a:r>
          </a:p>
          <a:p>
            <a:r>
              <a:rPr lang="en-US" sz="1800" dirty="0"/>
              <a:t>cancellation and refund processes are easier through intermediaries </a:t>
            </a:r>
          </a:p>
          <a:p>
            <a:r>
              <a:rPr lang="en-US" sz="1800" dirty="0"/>
              <a:t>Direct web bookings showed stronger booking intent and customer reliability.</a:t>
            </a:r>
          </a:p>
          <a:p>
            <a:pPr marL="0" indent="0">
              <a:buNone/>
            </a:pPr>
            <a:endParaRPr dirty="0"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3F390-A6E0-DDDC-E48E-120023644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7390"/>
            <a:ext cx="8229600" cy="5918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Observation 2:  Long lead-time bookings show extremely high cancellations</a:t>
            </a:r>
          </a:p>
          <a:p>
            <a:pPr marL="0" indent="0">
              <a:buNone/>
            </a:pPr>
            <a:r>
              <a:rPr lang="en-US" sz="1800" dirty="0"/>
              <a:t>Lead-time analysis revealed:</a:t>
            </a:r>
          </a:p>
          <a:p>
            <a:r>
              <a:rPr lang="en-US" sz="1800" dirty="0"/>
              <a:t>bookings with 90+ days lead time had cancellation rate above 90% </a:t>
            </a:r>
          </a:p>
          <a:p>
            <a:r>
              <a:rPr lang="en-US" sz="1800" dirty="0"/>
              <a:t>shorter lead-time bookings remained near 4% </a:t>
            </a:r>
          </a:p>
          <a:p>
            <a:pPr marL="0" indent="0">
              <a:buNone/>
            </a:pPr>
            <a:r>
              <a:rPr lang="en-US" sz="1800" b="1" dirty="0"/>
              <a:t>Root Cause</a:t>
            </a:r>
          </a:p>
          <a:p>
            <a:pPr marL="0" indent="0">
              <a:buNone/>
            </a:pPr>
            <a:r>
              <a:rPr lang="en-US" sz="1800" dirty="0"/>
              <a:t>Customers booking far in advance are more likely to:</a:t>
            </a:r>
          </a:p>
          <a:p>
            <a:r>
              <a:rPr lang="en-US" sz="1800" dirty="0"/>
              <a:t>change travel plans </a:t>
            </a:r>
          </a:p>
          <a:p>
            <a:r>
              <a:rPr lang="en-US" sz="1800" dirty="0"/>
              <a:t>postpone trips </a:t>
            </a:r>
          </a:p>
          <a:p>
            <a:r>
              <a:rPr lang="en-US" sz="1800" dirty="0"/>
              <a:t>shift to better offers later </a:t>
            </a:r>
          </a:p>
          <a:p>
            <a:r>
              <a:rPr lang="en-US" sz="1800" dirty="0"/>
              <a:t>This indicates uncertainty increases significantly with larger booking windows.</a:t>
            </a:r>
          </a:p>
          <a:p>
            <a:pPr marL="0" indent="0">
              <a:buNone/>
            </a:pPr>
            <a:r>
              <a:rPr lang="en-US" sz="1800" b="1" dirty="0"/>
              <a:t>Observation 3 : Premium hotels show slightly higher cancellation rates</a:t>
            </a:r>
          </a:p>
          <a:p>
            <a:r>
              <a:rPr lang="en-US" sz="1800" dirty="0"/>
              <a:t>5-star hotels had the highest cancellation rate among star categories.</a:t>
            </a:r>
          </a:p>
          <a:p>
            <a:pPr marL="0" indent="0">
              <a:buNone/>
            </a:pPr>
            <a:r>
              <a:rPr lang="en-US" sz="1800" b="1" dirty="0"/>
              <a:t>Root Cause</a:t>
            </a:r>
          </a:p>
          <a:p>
            <a:pPr marL="0" indent="0">
              <a:buNone/>
            </a:pPr>
            <a:r>
              <a:rPr lang="en-US" sz="1800" dirty="0"/>
              <a:t>Premium customers generally:</a:t>
            </a:r>
          </a:p>
          <a:p>
            <a:r>
              <a:rPr lang="en-US" sz="1800" dirty="0"/>
              <a:t>book earlier </a:t>
            </a:r>
          </a:p>
          <a:p>
            <a:r>
              <a:rPr lang="en-US" sz="1800" dirty="0"/>
              <a:t>maintain flexible travel schedules </a:t>
            </a:r>
          </a:p>
          <a:p>
            <a:r>
              <a:rPr lang="en-US" sz="1800" dirty="0"/>
              <a:t>frequently compare luxury alternatives </a:t>
            </a:r>
          </a:p>
          <a:p>
            <a:r>
              <a:rPr lang="en-US" sz="1800" dirty="0"/>
              <a:t>Luxury travel demand is more dynamic than budget travel demand.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01193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E1EBD-DFA2-01D8-2D0A-1F7735FB9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6815"/>
            <a:ext cx="8469984" cy="64762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/>
              <a:t>2. Why Some Booking Channels or Property Types Perform Better</a:t>
            </a:r>
          </a:p>
          <a:p>
            <a:pPr marL="0" indent="0">
              <a:buNone/>
            </a:pPr>
            <a:r>
              <a:rPr lang="en-US" sz="2000" b="1" dirty="0"/>
              <a:t>Observation 1 :Web channel dominates both bookings and revenue</a:t>
            </a:r>
          </a:p>
          <a:p>
            <a:pPr marL="0" indent="0">
              <a:buNone/>
            </a:pPr>
            <a:r>
              <a:rPr lang="en-US" sz="2000" dirty="0"/>
              <a:t>From Power BI:</a:t>
            </a:r>
          </a:p>
          <a:p>
            <a:r>
              <a:rPr lang="en-US" sz="2000" dirty="0"/>
              <a:t>Web generated highest booking count (15K) </a:t>
            </a:r>
          </a:p>
          <a:p>
            <a:r>
              <a:rPr lang="en-US" sz="2000" dirty="0"/>
              <a:t>Web also generated highest revenue (0.42bn) </a:t>
            </a:r>
          </a:p>
          <a:p>
            <a:r>
              <a:rPr lang="en-US" sz="2000" dirty="0"/>
              <a:t>Web contributed highest profitability across both business and leisure stays</a:t>
            </a:r>
          </a:p>
          <a:p>
            <a:pPr marL="0" indent="0">
              <a:buNone/>
            </a:pPr>
            <a:r>
              <a:rPr lang="en-US" sz="2000" b="1" dirty="0"/>
              <a:t>Root Cause</a:t>
            </a:r>
          </a:p>
          <a:p>
            <a:r>
              <a:rPr lang="en-US" sz="2000" dirty="0"/>
              <a:t>Web channel performed best because:</a:t>
            </a:r>
          </a:p>
          <a:p>
            <a:r>
              <a:rPr lang="en-US" sz="2000" dirty="0"/>
              <a:t>direct customer access </a:t>
            </a:r>
          </a:p>
          <a:p>
            <a:r>
              <a:rPr lang="en-US" sz="2000" dirty="0"/>
              <a:t>lower intermediary commission costs </a:t>
            </a:r>
          </a:p>
          <a:p>
            <a:r>
              <a:rPr lang="en-US" sz="2000" dirty="0"/>
              <a:t>better digital convenience </a:t>
            </a:r>
          </a:p>
          <a:p>
            <a:r>
              <a:rPr lang="en-US" sz="2000" dirty="0"/>
              <a:t>stronger online customer adoption </a:t>
            </a:r>
          </a:p>
          <a:p>
            <a:r>
              <a:rPr lang="en-US" sz="2000" dirty="0"/>
              <a:t>It also maintained the lowest cancellation rate among all channels.</a:t>
            </a:r>
          </a:p>
          <a:p>
            <a:pPr marL="0" indent="0">
              <a:buNone/>
            </a:pPr>
            <a:r>
              <a:rPr lang="en-US" sz="2000" b="1" dirty="0"/>
              <a:t>Observation 2 : 4-star hotels receive maximum bookings</a:t>
            </a:r>
          </a:p>
          <a:p>
            <a:pPr marL="0" indent="0">
              <a:buNone/>
            </a:pPr>
            <a:r>
              <a:rPr lang="en-US" sz="2000" dirty="0"/>
              <a:t>From star-rating analysis:</a:t>
            </a:r>
          </a:p>
          <a:p>
            <a:r>
              <a:rPr lang="en-US" sz="2000" dirty="0"/>
              <a:t>4-star hotels recorded highest bookings (12K) </a:t>
            </a:r>
          </a:p>
          <a:p>
            <a:r>
              <a:rPr lang="en-US" sz="2000" dirty="0"/>
              <a:t>followed by 3-star hotels (10.5K) </a:t>
            </a:r>
          </a:p>
          <a:p>
            <a:r>
              <a:rPr lang="en-US" sz="2000" b="1" dirty="0"/>
              <a:t>Root Cause</a:t>
            </a:r>
          </a:p>
          <a:p>
            <a:r>
              <a:rPr lang="en-US" sz="2000" dirty="0"/>
              <a:t>4-star hotels likely offer:</a:t>
            </a:r>
          </a:p>
          <a:p>
            <a:r>
              <a:rPr lang="en-US" sz="2000" dirty="0"/>
              <a:t>optimal balance between luxury and affordability </a:t>
            </a:r>
          </a:p>
          <a:p>
            <a:r>
              <a:rPr lang="en-US" sz="2000" dirty="0"/>
              <a:t>broader appeal to both business and leisure travelers </a:t>
            </a:r>
          </a:p>
          <a:p>
            <a:r>
              <a:rPr lang="en-US" sz="2000" dirty="0"/>
              <a:t>better amenities at moderate pricing </a:t>
            </a:r>
          </a:p>
          <a:p>
            <a:r>
              <a:rPr lang="en-US" sz="2000" dirty="0"/>
              <a:t>This segment captures the largest market demand.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79945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92BE0-3B61-16E9-7629-056130F36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5414"/>
            <a:ext cx="8229600" cy="67825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/>
              <a:t>Observation 3 : Leisure stays generate higher profitability</a:t>
            </a:r>
          </a:p>
          <a:p>
            <a:pPr marL="0" indent="0">
              <a:buNone/>
            </a:pPr>
            <a:r>
              <a:rPr lang="en-US" sz="1800" dirty="0"/>
              <a:t>From booking-channel performance chart:</a:t>
            </a:r>
          </a:p>
          <a:p>
            <a:r>
              <a:rPr lang="en-US" sz="1800" dirty="0"/>
              <a:t>Leisure bookings consistently produced higher profit than business bookings across all channels </a:t>
            </a:r>
          </a:p>
          <a:p>
            <a:r>
              <a:rPr lang="en-US" sz="1800" dirty="0"/>
              <a:t>Examples:</a:t>
            </a:r>
          </a:p>
          <a:p>
            <a:r>
              <a:rPr lang="en-US" sz="1800" dirty="0"/>
              <a:t>Web Leisure Profit = 63M </a:t>
            </a:r>
          </a:p>
          <a:p>
            <a:r>
              <a:rPr lang="en-US" sz="1800" dirty="0"/>
              <a:t>Web Business Profit = 41M</a:t>
            </a:r>
          </a:p>
          <a:p>
            <a:pPr marL="0" indent="0">
              <a:buNone/>
            </a:pPr>
            <a:r>
              <a:rPr lang="en-US" sz="1800" b="1" dirty="0"/>
              <a:t>Root Cause</a:t>
            </a:r>
          </a:p>
          <a:p>
            <a:pPr marL="0" indent="0">
              <a:buNone/>
            </a:pPr>
            <a:r>
              <a:rPr lang="en-US" sz="1800" dirty="0"/>
              <a:t>Leisure travelers likely:</a:t>
            </a:r>
          </a:p>
          <a:p>
            <a:r>
              <a:rPr lang="en-US" sz="1800" dirty="0"/>
              <a:t>stay longer </a:t>
            </a:r>
          </a:p>
          <a:p>
            <a:r>
              <a:rPr lang="en-US" sz="1800" dirty="0"/>
              <a:t>spend more on premium services </a:t>
            </a:r>
          </a:p>
          <a:p>
            <a:r>
              <a:rPr lang="en-US" sz="1800" dirty="0"/>
              <a:t>book family/group accommodations </a:t>
            </a:r>
          </a:p>
          <a:p>
            <a:r>
              <a:rPr lang="en-US" sz="1800" dirty="0"/>
              <a:t>This increases overall booking value and profitability.</a:t>
            </a:r>
          </a:p>
          <a:p>
            <a:pPr marL="0" indent="0">
              <a:buNone/>
            </a:pPr>
            <a:r>
              <a:rPr lang="en-IN" sz="1800" b="1" dirty="0"/>
              <a:t>Observation 4 : Standard rooms generate maximum revenue</a:t>
            </a:r>
          </a:p>
          <a:p>
            <a:pPr marL="0" indent="0">
              <a:buNone/>
            </a:pPr>
            <a:r>
              <a:rPr lang="en-IN" sz="1800" dirty="0"/>
              <a:t>From room-type revenue chart:</a:t>
            </a:r>
          </a:p>
          <a:p>
            <a:r>
              <a:rPr lang="en-IN" sz="1800" dirty="0"/>
              <a:t>Standard rooms contributed 0.42bn </a:t>
            </a:r>
          </a:p>
          <a:p>
            <a:r>
              <a:rPr lang="en-IN" sz="1800" dirty="0"/>
              <a:t>Deluxe = 0.26bn </a:t>
            </a:r>
          </a:p>
          <a:p>
            <a:r>
              <a:rPr lang="en-IN" sz="1800" dirty="0"/>
              <a:t>Suite = 0.07bn</a:t>
            </a:r>
          </a:p>
          <a:p>
            <a:pPr marL="0" indent="0">
              <a:buNone/>
            </a:pPr>
            <a:r>
              <a:rPr lang="en-US" sz="1800" b="1" dirty="0"/>
              <a:t>Root Cause</a:t>
            </a:r>
          </a:p>
          <a:p>
            <a:pPr marL="0" indent="0">
              <a:buNone/>
            </a:pPr>
            <a:r>
              <a:rPr lang="en-US" sz="1800" dirty="0"/>
              <a:t>Standard rooms dominate because:</a:t>
            </a:r>
          </a:p>
          <a:p>
            <a:r>
              <a:rPr lang="en-US" sz="1800" dirty="0"/>
              <a:t>affordable pricing attracts larger customer segments </a:t>
            </a:r>
          </a:p>
          <a:p>
            <a:r>
              <a:rPr lang="en-US" sz="1800" dirty="0"/>
              <a:t>higher occupancy rates </a:t>
            </a:r>
          </a:p>
          <a:p>
            <a:r>
              <a:rPr lang="en-US" sz="1800" dirty="0"/>
              <a:t>balanced price-to-value perception </a:t>
            </a:r>
          </a:p>
          <a:p>
            <a:r>
              <a:rPr lang="en-US" sz="1800" dirty="0"/>
              <a:t>Premium suites generate higher value per booking but significantly lower demand volume.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59996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2AC9-BFBF-17EA-ABBB-3408FB1C0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75811"/>
          </a:xfrm>
        </p:spPr>
        <p:txBody>
          <a:bodyPr>
            <a:noAutofit/>
          </a:bodyPr>
          <a:lstStyle/>
          <a:p>
            <a:r>
              <a:rPr lang="en-US" sz="2400" dirty="0"/>
              <a:t>3.Seasonal and Temporal Trends Influencing Booking Values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6500C5-2C95-790C-E41D-51C77BA49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5593"/>
            <a:ext cx="8025405" cy="589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04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2A708-53D7-13F2-09F9-BDE8BDC31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88" y="160256"/>
            <a:ext cx="8908330" cy="6504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Observation : April recorded unusually high revenue and bookings</a:t>
            </a:r>
          </a:p>
          <a:p>
            <a:pPr marL="0" indent="0">
              <a:buNone/>
            </a:pPr>
            <a:r>
              <a:rPr lang="en-US" sz="1800" dirty="0"/>
              <a:t>Monthly trend analysis showed:</a:t>
            </a:r>
          </a:p>
          <a:p>
            <a:r>
              <a:rPr lang="en-US" sz="1800" dirty="0"/>
              <a:t>April revenue peaked at 113M </a:t>
            </a:r>
          </a:p>
          <a:p>
            <a:r>
              <a:rPr lang="en-US" sz="1800" dirty="0"/>
              <a:t>booking count also reached maximum (4.5K) </a:t>
            </a:r>
          </a:p>
          <a:p>
            <a:pPr marL="0" indent="0">
              <a:buNone/>
            </a:pPr>
            <a:r>
              <a:rPr lang="en-US" sz="1800" b="1" dirty="0"/>
              <a:t>Stable Booking Activity Across Remaining Months</a:t>
            </a:r>
          </a:p>
          <a:p>
            <a:r>
              <a:rPr lang="en-US" sz="1800" dirty="0"/>
              <a:t>Most months maintained booking counts between 2.3K – 2.4K. </a:t>
            </a:r>
          </a:p>
          <a:p>
            <a:r>
              <a:rPr lang="en-US" sz="1800" dirty="0"/>
              <a:t>Revenue across non-peak months remained relatively stable between 55M – 62M. </a:t>
            </a:r>
          </a:p>
          <a:p>
            <a:r>
              <a:rPr lang="en-US" sz="1800" dirty="0"/>
              <a:t>Seasonal fluctuations were concentrated primarily around peak periods. </a:t>
            </a:r>
          </a:p>
          <a:p>
            <a:pPr marL="0" indent="0">
              <a:buNone/>
            </a:pPr>
            <a:r>
              <a:rPr lang="en-US" sz="1800" b="1" dirty="0"/>
              <a:t>Mid-Year Revenue Recovery Trend</a:t>
            </a:r>
          </a:p>
          <a:p>
            <a:r>
              <a:rPr lang="en-US" sz="1800" dirty="0"/>
              <a:t>Revenue showed moderate recovery during July and August. </a:t>
            </a:r>
          </a:p>
          <a:p>
            <a:r>
              <a:rPr lang="en-US" sz="1800" dirty="0"/>
              <a:t>August recorded approximately 62M booking value after earlier decline post-April peak. </a:t>
            </a:r>
          </a:p>
          <a:p>
            <a:r>
              <a:rPr lang="en-US" sz="1800" dirty="0"/>
              <a:t>Indicates secondary seasonal demand periods during mid-year travel months. 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Root Cause</a:t>
            </a:r>
          </a:p>
          <a:p>
            <a:pPr marL="0" indent="0">
              <a:buNone/>
            </a:pPr>
            <a:r>
              <a:rPr lang="en-US" sz="1800" dirty="0"/>
              <a:t>This indicates:</a:t>
            </a:r>
          </a:p>
          <a:p>
            <a:r>
              <a:rPr lang="en-US" sz="1800" dirty="0"/>
              <a:t>seasonal travel demand surge </a:t>
            </a:r>
          </a:p>
          <a:p>
            <a:r>
              <a:rPr lang="en-US" sz="1800" dirty="0"/>
              <a:t>holiday/vacation travel peaks </a:t>
            </a:r>
          </a:p>
          <a:p>
            <a:r>
              <a:rPr lang="en-US" sz="1800" dirty="0"/>
              <a:t>higher occupancy and room pricing during peak periods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26097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3DFD2-781D-1820-F524-5AAE0574C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87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0397-4F25-80FE-4D42-8F9704693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3075"/>
            <a:ext cx="9144000" cy="63442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1. Strategies to Reduce Cancellations</a:t>
            </a:r>
          </a:p>
          <a:p>
            <a:pPr marL="0" indent="0">
              <a:buNone/>
            </a:pPr>
            <a:r>
              <a:rPr lang="en-US" sz="1800" b="1" dirty="0"/>
              <a:t>A. Introduce Tiered Cancellation Policies</a:t>
            </a:r>
          </a:p>
          <a:p>
            <a:pPr marL="0" indent="0">
              <a:buNone/>
            </a:pPr>
            <a:r>
              <a:rPr lang="en-US" sz="1800" dirty="0"/>
              <a:t>Since long lead-time bookings showed extremely high cancellation rates:</a:t>
            </a:r>
          </a:p>
          <a:p>
            <a:r>
              <a:rPr lang="en-US" sz="1800" dirty="0"/>
              <a:t>apply stricter cancellation rules for bookings made far in advance </a:t>
            </a:r>
          </a:p>
          <a:p>
            <a:r>
              <a:rPr lang="en-US" sz="1800" dirty="0"/>
              <a:t>introduce partial refund policies instead of full refunds </a:t>
            </a:r>
          </a:p>
          <a:p>
            <a:r>
              <a:rPr lang="en-US" sz="1800" dirty="0"/>
              <a:t>encourage prepaid bookings with discounts </a:t>
            </a:r>
          </a:p>
          <a:p>
            <a:pPr marL="0" indent="0">
              <a:buNone/>
            </a:pPr>
            <a:r>
              <a:rPr lang="en-US" sz="1800" b="1" dirty="0"/>
              <a:t>B. Strengthen Direct Web Bookings</a:t>
            </a:r>
          </a:p>
          <a:p>
            <a:pPr marL="0" indent="0">
              <a:buNone/>
            </a:pPr>
            <a:r>
              <a:rPr lang="en-US" sz="1800" dirty="0"/>
              <a:t>Web bookings had the lowest cancellation rate.</a:t>
            </a:r>
          </a:p>
          <a:p>
            <a:pPr marL="0" indent="0">
              <a:buNone/>
            </a:pPr>
            <a:r>
              <a:rPr lang="en-US" sz="1800" dirty="0"/>
              <a:t>Recommended actions:</a:t>
            </a:r>
          </a:p>
          <a:p>
            <a:r>
              <a:rPr lang="en-US" sz="1800" dirty="0"/>
              <a:t>promote direct booking discounts </a:t>
            </a:r>
          </a:p>
          <a:p>
            <a:r>
              <a:rPr lang="en-US" sz="1800" dirty="0"/>
              <a:t>provide loyalty benefits for website/app bookings </a:t>
            </a:r>
          </a:p>
          <a:p>
            <a:r>
              <a:rPr lang="en-US" sz="1800" dirty="0"/>
              <a:t>reduce dependency on travel-agent channels </a:t>
            </a:r>
          </a:p>
          <a:p>
            <a:pPr marL="0" indent="0">
              <a:buNone/>
            </a:pPr>
            <a:r>
              <a:rPr lang="en-US" sz="1800" dirty="0"/>
              <a:t>This improves booking reliability and reduces intermediary losses</a:t>
            </a:r>
          </a:p>
          <a:p>
            <a:pPr marL="0" indent="0">
              <a:buNone/>
            </a:pPr>
            <a:r>
              <a:rPr lang="en-US" sz="1800" b="1" dirty="0"/>
              <a:t>C. Use Predictive Cancellation Monitoring</a:t>
            </a:r>
          </a:p>
          <a:p>
            <a:pPr marL="0" indent="0">
              <a:buNone/>
            </a:pPr>
            <a:r>
              <a:rPr lang="en-US" sz="1800" dirty="0"/>
              <a:t>Use lead time, booking channel, and star rating to identify high-risk bookings.</a:t>
            </a:r>
          </a:p>
          <a:p>
            <a:pPr marL="0" indent="0">
              <a:buNone/>
            </a:pPr>
            <a:r>
              <a:rPr lang="en-US" sz="1800" dirty="0"/>
              <a:t>High-risk customers can receive:</a:t>
            </a:r>
          </a:p>
          <a:p>
            <a:r>
              <a:rPr lang="en-US" sz="1800" dirty="0"/>
              <a:t>reminder emails </a:t>
            </a:r>
          </a:p>
          <a:p>
            <a:r>
              <a:rPr lang="en-US" sz="1800" dirty="0"/>
              <a:t>reconfirmation requests </a:t>
            </a:r>
          </a:p>
          <a:p>
            <a:r>
              <a:rPr lang="en-US" sz="1800" dirty="0"/>
              <a:t>targeted offers before cancellation occurs </a:t>
            </a:r>
          </a:p>
          <a:p>
            <a:pPr marL="0" indent="0">
              <a:buNone/>
            </a:pPr>
            <a:r>
              <a:rPr lang="en-US" sz="1800" dirty="0"/>
              <a:t>This can reduce preventable cancellations.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95901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2956A-FF27-0A71-4DE9-1BA10ED43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5" y="84842"/>
            <a:ext cx="8898903" cy="661761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/>
              <a:t>2. Recommendations to Improve Profitability and Increase Repeat Bookings</a:t>
            </a:r>
          </a:p>
          <a:p>
            <a:pPr marL="0" indent="0">
              <a:buNone/>
            </a:pPr>
            <a:br>
              <a:rPr lang="en-US" sz="1800" b="1" dirty="0"/>
            </a:br>
            <a:r>
              <a:rPr lang="en-IN" sz="1800" b="1" dirty="0"/>
              <a:t>A. Focus on High-Performing Segments</a:t>
            </a:r>
          </a:p>
          <a:p>
            <a:pPr marL="0" indent="0">
              <a:buNone/>
            </a:pPr>
            <a:r>
              <a:rPr lang="en-IN" sz="1800" dirty="0"/>
              <a:t>Analysis showed strongest profitability from:</a:t>
            </a:r>
          </a:p>
          <a:p>
            <a:r>
              <a:rPr lang="en-IN" sz="1800" dirty="0"/>
              <a:t>Web channel </a:t>
            </a:r>
          </a:p>
          <a:p>
            <a:r>
              <a:rPr lang="en-IN" sz="1800" dirty="0"/>
              <a:t>Leisure stays </a:t>
            </a:r>
          </a:p>
          <a:p>
            <a:r>
              <a:rPr lang="en-IN" sz="1800" dirty="0"/>
              <a:t>4-star hotels </a:t>
            </a:r>
          </a:p>
          <a:p>
            <a:pPr marL="0" indent="0">
              <a:buNone/>
            </a:pPr>
            <a:r>
              <a:rPr lang="en-IN" sz="1800" dirty="0"/>
              <a:t>Business should:</a:t>
            </a:r>
          </a:p>
          <a:p>
            <a:r>
              <a:rPr lang="en-IN" sz="1800" dirty="0"/>
              <a:t>allocate higher marketing budget toward these segments </a:t>
            </a:r>
          </a:p>
          <a:p>
            <a:r>
              <a:rPr lang="en-IN" sz="1800" dirty="0"/>
              <a:t>prioritize premium mid-range hotel offerings </a:t>
            </a:r>
          </a:p>
          <a:p>
            <a:r>
              <a:rPr lang="en-IN" sz="1800" dirty="0"/>
              <a:t>improve digital customer acquisition </a:t>
            </a:r>
          </a:p>
          <a:p>
            <a:pPr marL="0" indent="0">
              <a:buNone/>
            </a:pPr>
            <a:r>
              <a:rPr lang="en-US" sz="1800" b="1" dirty="0"/>
              <a:t>B. Launch Customer Loyalty Programs</a:t>
            </a:r>
          </a:p>
          <a:p>
            <a:pPr marL="0" indent="0">
              <a:buNone/>
            </a:pPr>
            <a:r>
              <a:rPr lang="en-US" sz="1800" dirty="0"/>
              <a:t>Repeat bookings can increase through:</a:t>
            </a:r>
          </a:p>
          <a:p>
            <a:r>
              <a:rPr lang="en-US" sz="1800" dirty="0"/>
              <a:t>reward points </a:t>
            </a:r>
          </a:p>
          <a:p>
            <a:r>
              <a:rPr lang="en-US" sz="1800" dirty="0"/>
              <a:t>member-exclusive pricing </a:t>
            </a:r>
          </a:p>
          <a:p>
            <a:r>
              <a:rPr lang="en-US" sz="1800" dirty="0"/>
              <a:t>cashback and upgrade offers </a:t>
            </a:r>
          </a:p>
          <a:p>
            <a:r>
              <a:rPr lang="en-US" sz="1800" dirty="0"/>
              <a:t>personalized discounts for repeat customers </a:t>
            </a:r>
          </a:p>
          <a:p>
            <a:r>
              <a:rPr lang="en-US" sz="1800" dirty="0"/>
              <a:t>This improves customer retention and lifetime value.</a:t>
            </a:r>
          </a:p>
          <a:p>
            <a:pPr marL="0" indent="0">
              <a:buNone/>
            </a:pPr>
            <a:r>
              <a:rPr lang="en-US" sz="1800" b="1" dirty="0"/>
              <a:t>C. Increase Revenue per Customer</a:t>
            </a:r>
          </a:p>
          <a:p>
            <a:r>
              <a:rPr lang="en-US" sz="1800" dirty="0"/>
              <a:t>Leisure travelers generated higher profits.</a:t>
            </a:r>
          </a:p>
          <a:p>
            <a:r>
              <a:rPr lang="en-US" sz="1800" dirty="0"/>
              <a:t>Opportunities:</a:t>
            </a:r>
          </a:p>
          <a:p>
            <a:r>
              <a:rPr lang="en-US" sz="1800" dirty="0"/>
              <a:t>bundle packages </a:t>
            </a:r>
          </a:p>
          <a:p>
            <a:r>
              <a:rPr lang="en-US" sz="1800" dirty="0"/>
              <a:t>premium room upgrades </a:t>
            </a:r>
          </a:p>
          <a:p>
            <a:r>
              <a:rPr lang="en-US" sz="1800" dirty="0"/>
              <a:t>extended-stay discounts </a:t>
            </a:r>
          </a:p>
          <a:p>
            <a:r>
              <a:rPr lang="en-US" sz="1800" dirty="0"/>
              <a:t>add-on services (transport, dining, experiences) </a:t>
            </a:r>
          </a:p>
          <a:p>
            <a:r>
              <a:rPr lang="en-US" sz="1800" dirty="0"/>
              <a:t>This increases average booking value.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5673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7D0E2-0F0C-01F8-3347-0E0F9365B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" y="84841"/>
            <a:ext cx="8936610" cy="66741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/>
              <a:t>3. Opportunities to Optimize Pricing, Promotions, and Channel Strategy</a:t>
            </a:r>
          </a:p>
          <a:p>
            <a:pPr marL="0" indent="0">
              <a:buNone/>
            </a:pPr>
            <a:r>
              <a:rPr lang="en-US" sz="1800" b="1" dirty="0"/>
              <a:t>A. Dynamic Seasonal Pricing</a:t>
            </a:r>
          </a:p>
          <a:p>
            <a:pPr marL="0" indent="0">
              <a:buNone/>
            </a:pPr>
            <a:r>
              <a:rPr lang="en-US" sz="1800" dirty="0"/>
              <a:t>April showed exceptionally high demand and revenue.</a:t>
            </a:r>
          </a:p>
          <a:p>
            <a:pPr marL="0" indent="0">
              <a:buNone/>
            </a:pPr>
            <a:r>
              <a:rPr lang="en-US" sz="1800" dirty="0"/>
              <a:t>Recommended strategy:</a:t>
            </a:r>
          </a:p>
          <a:p>
            <a:r>
              <a:rPr lang="en-US" sz="1800" dirty="0"/>
              <a:t>increase prices during peak demand months </a:t>
            </a:r>
          </a:p>
          <a:p>
            <a:r>
              <a:rPr lang="en-US" sz="1800" dirty="0"/>
              <a:t>optimize occupancy-based pricing </a:t>
            </a:r>
          </a:p>
          <a:p>
            <a:r>
              <a:rPr lang="en-US" sz="1800" dirty="0"/>
              <a:t>apply surge pricing during holidays and travel seasons </a:t>
            </a:r>
          </a:p>
          <a:p>
            <a:pPr marL="0" indent="0">
              <a:buNone/>
            </a:pPr>
            <a:r>
              <a:rPr lang="en-US" sz="1800" dirty="0"/>
              <a:t>This maximizes revenue during high-demand periods.</a:t>
            </a:r>
          </a:p>
          <a:p>
            <a:pPr marL="0" indent="0">
              <a:buNone/>
            </a:pPr>
            <a:r>
              <a:rPr lang="en-US" sz="1800" b="1" dirty="0"/>
              <a:t>B. Optimize Channel Investment</a:t>
            </a:r>
          </a:p>
          <a:p>
            <a:pPr marL="0" indent="0">
              <a:buNone/>
            </a:pPr>
            <a:r>
              <a:rPr lang="en-US" sz="1800" dirty="0"/>
              <a:t>Performance analysis showed:</a:t>
            </a:r>
          </a:p>
          <a:p>
            <a:r>
              <a:rPr lang="en-US" sz="1800" dirty="0"/>
              <a:t>Web channel generated highest revenue and lowest cancellations </a:t>
            </a:r>
          </a:p>
          <a:p>
            <a:r>
              <a:rPr lang="en-US" sz="1800" dirty="0"/>
              <a:t>Travel-agent channel performed weakest </a:t>
            </a:r>
          </a:p>
          <a:p>
            <a:pPr marL="0" indent="0">
              <a:buNone/>
            </a:pPr>
            <a:r>
              <a:rPr lang="en-US" sz="1800" dirty="0"/>
              <a:t>Recommended actions:</a:t>
            </a:r>
          </a:p>
          <a:p>
            <a:r>
              <a:rPr lang="en-US" sz="1800" dirty="0"/>
              <a:t>prioritize digital marketing for direct channels </a:t>
            </a:r>
          </a:p>
          <a:p>
            <a:r>
              <a:rPr lang="en-US" sz="1800" dirty="0"/>
              <a:t>reduce excessive commission-based dependency </a:t>
            </a:r>
          </a:p>
          <a:p>
            <a:r>
              <a:rPr lang="en-US" sz="1800" dirty="0"/>
              <a:t>improve mobile/web booking experience</a:t>
            </a:r>
          </a:p>
          <a:p>
            <a:pPr marL="0" indent="0">
              <a:buNone/>
            </a:pPr>
            <a:r>
              <a:rPr lang="en-US" sz="1800" b="1" dirty="0"/>
              <a:t>C. Segment-Based Promotions</a:t>
            </a:r>
          </a:p>
          <a:p>
            <a:pPr marL="0" indent="0">
              <a:buNone/>
            </a:pPr>
            <a:r>
              <a:rPr lang="en-US" sz="1800" dirty="0"/>
              <a:t>Different customer segments should receive targeted offers.</a:t>
            </a:r>
          </a:p>
          <a:p>
            <a:pPr marL="0" indent="0">
              <a:buNone/>
            </a:pPr>
            <a:r>
              <a:rPr lang="en-US" sz="1800" dirty="0"/>
              <a:t>Examples:</a:t>
            </a:r>
          </a:p>
          <a:p>
            <a:r>
              <a:rPr lang="en-US" sz="1800" dirty="0"/>
              <a:t>early-bird offers for leisure travelers </a:t>
            </a:r>
          </a:p>
          <a:p>
            <a:r>
              <a:rPr lang="en-US" sz="1800" dirty="0"/>
              <a:t>weekday promotions for business travelers </a:t>
            </a:r>
          </a:p>
          <a:p>
            <a:r>
              <a:rPr lang="en-US" sz="1800" dirty="0"/>
              <a:t>personalized discounts based on booking history </a:t>
            </a:r>
          </a:p>
          <a:p>
            <a:pPr marL="0" indent="0">
              <a:buNone/>
            </a:pPr>
            <a:r>
              <a:rPr lang="en-US" sz="1800" dirty="0"/>
              <a:t>This improves conversion rates and occupancy consistency.</a:t>
            </a:r>
          </a:p>
          <a:p>
            <a:pPr marL="0" indent="0">
              <a:buNone/>
            </a:pPr>
            <a:endParaRPr lang="en-US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22804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457199"/>
          </a:xfrm>
        </p:spPr>
        <p:txBody>
          <a:bodyPr>
            <a:noAutofit/>
          </a:bodyPr>
          <a:lstStyle/>
          <a:p>
            <a:r>
              <a:rPr sz="2800" dirty="0">
                <a:latin typeface="Calibri"/>
              </a:rPr>
              <a:t>Final Business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24206"/>
            <a:ext cx="9078012" cy="63877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/>
              <a:t>Key Findings</a:t>
            </a:r>
          </a:p>
          <a:p>
            <a:r>
              <a:rPr lang="en-US" sz="1400" dirty="0"/>
              <a:t>Web channel generated the highest booking volume, revenue, and profitability while also maintaining the lowest cancellation rate. </a:t>
            </a:r>
          </a:p>
          <a:p>
            <a:r>
              <a:rPr lang="en-US" sz="1400" dirty="0"/>
              <a:t>Travel Agent bookings showed the highest cancellation rate despite lower booking contribution. </a:t>
            </a:r>
          </a:p>
          <a:p>
            <a:r>
              <a:rPr lang="en-US" sz="1400" dirty="0"/>
              <a:t>Standard rooms and 4-star hotels dominated customer demand and overall revenue generation. </a:t>
            </a:r>
          </a:p>
          <a:p>
            <a:r>
              <a:rPr lang="en-US" sz="1400" dirty="0"/>
              <a:t>Leisure travelers contributed significantly higher profitability compared to business travelers. </a:t>
            </a:r>
          </a:p>
          <a:p>
            <a:r>
              <a:rPr lang="en-US" sz="1400" dirty="0"/>
              <a:t>Long lead-time bookings (90+ days) had extremely high cancellation probability. </a:t>
            </a:r>
          </a:p>
          <a:p>
            <a:r>
              <a:rPr lang="en-US" sz="1400" dirty="0"/>
              <a:t>Metropolitan cities such as Chicago, Los Angeles, and San Francisco delivered the strongest profitability. </a:t>
            </a:r>
          </a:p>
          <a:p>
            <a:r>
              <a:rPr lang="en-US" sz="1400" dirty="0"/>
              <a:t>April emerged as the peak revenue and booking month, indicating strong seasonal demand patterns. </a:t>
            </a:r>
          </a:p>
          <a:p>
            <a:pPr marL="0" indent="0">
              <a:buNone/>
            </a:pPr>
            <a:r>
              <a:rPr lang="en-US" sz="1400" b="1" dirty="0"/>
              <a:t>Major Business Opportunities</a:t>
            </a:r>
          </a:p>
          <a:p>
            <a:r>
              <a:rPr lang="en-US" sz="1400" dirty="0"/>
              <a:t>Strengthen direct booking channels to improve profitability and reduce dependency on intermediaries. </a:t>
            </a:r>
          </a:p>
          <a:p>
            <a:r>
              <a:rPr lang="en-US" sz="1400" dirty="0"/>
              <a:t>Optimize pricing during high-demand seasonal periods using dynamic pricing models. </a:t>
            </a:r>
          </a:p>
          <a:p>
            <a:r>
              <a:rPr lang="en-US" sz="1400" dirty="0"/>
              <a:t>Increase customer retention through loyalty programs and personalized offers. </a:t>
            </a:r>
          </a:p>
          <a:p>
            <a:r>
              <a:rPr lang="en-US" sz="1400" dirty="0"/>
              <a:t>Improve premium room and luxury hotel occupancy using targeted upselling and bundled experiences. </a:t>
            </a:r>
          </a:p>
          <a:p>
            <a:r>
              <a:rPr lang="en-US" sz="1400" dirty="0"/>
              <a:t>Use predictive cancellation monitoring to reduce revenue leakage from high-risk bookings. </a:t>
            </a:r>
          </a:p>
          <a:p>
            <a:pPr marL="0" indent="0">
              <a:buNone/>
            </a:pPr>
            <a:r>
              <a:rPr lang="en-US" sz="1400" b="1" dirty="0"/>
              <a:t>Strategic Recommendations</a:t>
            </a:r>
          </a:p>
          <a:p>
            <a:r>
              <a:rPr lang="en-US" sz="1400" dirty="0"/>
              <a:t>Prioritize marketing investment toward Web and Mobile App channels. </a:t>
            </a:r>
          </a:p>
          <a:p>
            <a:r>
              <a:rPr lang="en-US" sz="1400" dirty="0"/>
              <a:t>Implement stricter cancellation policies for long lead-time bookings. </a:t>
            </a:r>
          </a:p>
          <a:p>
            <a:r>
              <a:rPr lang="en-US" sz="1400" dirty="0"/>
              <a:t>Focus inventory and promotional efforts on high-performing 4-star and Standard room segments. </a:t>
            </a:r>
          </a:p>
          <a:p>
            <a:r>
              <a:rPr lang="en-US" sz="1400" dirty="0"/>
              <a:t>Introduce customer segmentation strategies for leisure, premium, and repeat travelers. </a:t>
            </a:r>
          </a:p>
          <a:p>
            <a:r>
              <a:rPr lang="en-US" sz="1400" dirty="0"/>
              <a:t>Expand ancillary revenue opportunities through upgrades, bundled packages, and add-on services. </a:t>
            </a:r>
          </a:p>
          <a:p>
            <a:pPr marL="0" indent="0">
              <a:buNone/>
            </a:pPr>
            <a:r>
              <a:rPr lang="en-US" sz="1400" b="1" dirty="0"/>
              <a:t>Expected Business Impact</a:t>
            </a:r>
          </a:p>
          <a:p>
            <a:r>
              <a:rPr lang="en-US" sz="1400" dirty="0"/>
              <a:t>Reduced cancellation losses </a:t>
            </a:r>
          </a:p>
          <a:p>
            <a:r>
              <a:rPr lang="en-US" sz="1400" dirty="0"/>
              <a:t>Higher repeat booking rates </a:t>
            </a:r>
          </a:p>
          <a:p>
            <a:r>
              <a:rPr lang="en-US" sz="1400" dirty="0"/>
              <a:t>Improved occupancy consistency </a:t>
            </a:r>
          </a:p>
          <a:p>
            <a:r>
              <a:rPr lang="en-US" sz="1400" dirty="0"/>
              <a:t>Increased average booking value </a:t>
            </a:r>
          </a:p>
          <a:p>
            <a:r>
              <a:rPr lang="en-US" sz="1400" dirty="0"/>
              <a:t>Better profitability across key customer segments and cities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2436</Words>
  <Application>Microsoft Office PowerPoint</Application>
  <PresentationFormat>On-screen Show (4:3)</PresentationFormat>
  <Paragraphs>356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Hotel Booking Data Analysis</vt:lpstr>
      <vt:lpstr>Analysis Objectives</vt:lpstr>
      <vt:lpstr>Dataset Overview</vt:lpstr>
      <vt:lpstr>Data Preparation</vt:lpstr>
      <vt:lpstr>Booking Trends Across Channels</vt:lpstr>
      <vt:lpstr>Booking Patterns by Room Type</vt:lpstr>
      <vt:lpstr>PowerPoint Presentation</vt:lpstr>
      <vt:lpstr>Booking Patterns by Star Rating</vt:lpstr>
      <vt:lpstr>PowerPoint Presentation</vt:lpstr>
      <vt:lpstr>Profitability by City</vt:lpstr>
      <vt:lpstr>PowerPoint Presentation</vt:lpstr>
      <vt:lpstr>Cancellation Analysis</vt:lpstr>
      <vt:lpstr>PowerPoint Presentation</vt:lpstr>
      <vt:lpstr>PowerPoint Presentation</vt:lpstr>
      <vt:lpstr>PowerPoint Presentation</vt:lpstr>
      <vt:lpstr>PowerPoint Presentation</vt:lpstr>
      <vt:lpstr>Cancellation Root Cause Analysis</vt:lpstr>
      <vt:lpstr>PowerPoint Presentation</vt:lpstr>
      <vt:lpstr>PowerPoint Presentation</vt:lpstr>
      <vt:lpstr>PowerPoint Presentation</vt:lpstr>
      <vt:lpstr>3.Seasonal and Temporal Trends Influencing Booking Values</vt:lpstr>
      <vt:lpstr>PowerPoint Presentation</vt:lpstr>
      <vt:lpstr>Business Recommendations</vt:lpstr>
      <vt:lpstr>PowerPoint Presentation</vt:lpstr>
      <vt:lpstr>PowerPoint Presentation</vt:lpstr>
      <vt:lpstr>Final Business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Ananya Verma</cp:lastModifiedBy>
  <cp:revision>41</cp:revision>
  <dcterms:created xsi:type="dcterms:W3CDTF">2013-01-27T09:14:16Z</dcterms:created>
  <dcterms:modified xsi:type="dcterms:W3CDTF">2026-05-12T15:22:03Z</dcterms:modified>
  <cp:category/>
</cp:coreProperties>
</file>